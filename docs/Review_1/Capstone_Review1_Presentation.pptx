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728655" cy="54864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WOXSEN UNIVERSITY — SCHOOL OF TECHNOLOGY | ACADEMIC YEAR 2026–27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Real-Time Financial Fraud &amp;</a:t>
            </a:r>
            <a:br/>
            <a:r>
              <a:t>Credit Risk Intelligence System</a:t>
            </a:r>
          </a:p>
          <a:p>
            <a:pPr>
              <a:defRPr sz="1800" b="1">
                <a:solidFill>
                  <a:srgbClr val="FBBF24"/>
                </a:solidFill>
              </a:defRPr>
            </a:pPr>
            <a:r>
              <a:t>Capstone Project - I Review 1 Official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83280"/>
            <a:ext cx="10728655" cy="3017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PROJECT MENTOR &amp; EVALUATION DETAILS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Faculty Mentor: Prof. Dileep Kumar M. | Review Date: 31.07.2026</a:t>
            </a:r>
          </a:p>
          <a:p>
            <a:br/>
            <a:pPr>
              <a:defRPr b="1" sz="1500">
                <a:solidFill>
                  <a:srgbClr val="FFFFFF"/>
                </a:solidFill>
              </a:defRPr>
            </a:pPr>
            <a:r>
              <a:t>STUDENT TEAM MEMBERS: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Challa Karthikeya (Roll No: 23WU0104013 | Mobile: +91 97014 70936)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Y. Brijesh Naidu (Roll No: 23WU0104011 | Mobile: +91 96666 56269)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K Dheeraj (Roll No: 23WU0104039 | Mobile: +91 88866 68669)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PROJECT BACKGROUND &amp; BOTTLENECKS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Problem Statement &amp; Core Industry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11155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BBF24"/>
                </a:solidFill>
              </a:defRPr>
            </a:pPr>
            <a:r>
              <a:t>1. Massive Financial Losses (₹3.3 Lakh Crore Global Fraud)</a:t>
            </a:r>
          </a:p>
          <a:p>
            <a:pPr>
              <a:defRPr sz="1350">
                <a:solidFill>
                  <a:srgbClr val="F8FAFC"/>
                </a:solidFill>
              </a:defRPr>
            </a:pPr>
            <a:r>
              <a:t>Digital payment fraud causes over ₹3.3 Lakh Crore (B+) in annual losses globally, severely threatening high-volume Indian UPI and banking gateways.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728655" cy="11155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BBF24"/>
                </a:solidFill>
              </a:defRPr>
            </a:pPr>
            <a:r>
              <a:t>2. Vulnerability of Legacy Static Rule Engines</a:t>
            </a:r>
          </a:p>
          <a:p>
            <a:pPr>
              <a:defRPr sz="1350">
                <a:solidFill>
                  <a:srgbClr val="F8FAFC"/>
                </a:solidFill>
              </a:defRPr>
            </a:pPr>
            <a:r>
              <a:t>Traditional banking security relies on manual static rules that fail to detect novel zero-day fraud tactics and dynamic multi-account attacks.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69080"/>
            <a:ext cx="10728655" cy="11155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BBF24"/>
                </a:solidFill>
              </a:defRPr>
            </a:pPr>
            <a:r>
              <a:t>3. High False Alarms &amp; Missed Fraud Attacks</a:t>
            </a:r>
          </a:p>
          <a:p>
            <a:pPr>
              <a:defRPr sz="1350">
                <a:solidFill>
                  <a:srgbClr val="F8FAFC"/>
                </a:solidFill>
              </a:defRPr>
            </a:pPr>
            <a:r>
              <a:t>Because fraud accounts for only ~3.5% of dataset transactions, standard AI models become heavily biased towards normal transactions, missing real fraud or blocking legitimate users.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728655" cy="11155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BBF24"/>
                </a:solidFill>
              </a:defRPr>
            </a:pPr>
            <a:r>
              <a:t>4. Lack of Regulatory Transparency &amp; Audit Trails</a:t>
            </a:r>
          </a:p>
          <a:p>
            <a:pPr>
              <a:defRPr sz="1350">
                <a:solidFill>
                  <a:srgbClr val="F8FAFC"/>
                </a:solidFill>
              </a:defRPr>
            </a:pPr>
            <a:r>
              <a:t>Black-box deep learning models do not provide clear explanations for credit or transaction rejections, violating RBI, FCRA, and GDPR audit rules.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THE STORY THAT INSPIRED OUR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Real-World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20640" cy="2240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Multi-Crore Financial Impact in Digital Payments</a:t>
            </a:r>
          </a:p>
          <a:p>
            <a:pPr>
              <a:defRPr sz="1350">
                <a:solidFill>
                  <a:srgbClr val="F8FAFC"/>
                </a:solidFill>
              </a:defRPr>
            </a:pPr>
            <a:r>
              <a:t>Indian digital payment networks (UPI, IMPS, Cards) process billions of transactions monthly. Undetected fraud breaches cause direct losses worth Crores to banks.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6655" y="1600200"/>
            <a:ext cx="5120640" cy="2240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Uncovering Collusive Fraud Rings</a:t>
            </a:r>
          </a:p>
          <a:p>
            <a:pPr>
              <a:defRPr sz="1350">
                <a:solidFill>
                  <a:srgbClr val="F8FAFC"/>
                </a:solidFill>
              </a:defRPr>
            </a:pPr>
            <a:r>
              <a:t>Organized fraud syndicates utilize complex inter-account networks to launder illicit funds. Standard single-point classifiers fail to identify these multi-node graph relationships.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240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RBI &amp; International Regulatory Audit Compliance</a:t>
            </a:r>
          </a:p>
          <a:p>
            <a:pPr>
              <a:defRPr sz="1350">
                <a:solidFill>
                  <a:srgbClr val="F8FAFC"/>
                </a:solidFill>
              </a:defRPr>
            </a:pPr>
            <a:r>
              <a:t>Financial regulators strictly require explainable feature attributions (SHAP values) whenever loan requests or credit card applications are flagged or rejected.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4023360"/>
            <a:ext cx="5120640" cy="2240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Sub-100ms Live Scoring Execution</a:t>
            </a:r>
          </a:p>
          <a:p>
            <a:pPr>
              <a:defRPr sz="1350">
                <a:solidFill>
                  <a:srgbClr val="F8FAFC"/>
                </a:solidFill>
              </a:defRPr>
            </a:pPr>
            <a:r>
              <a:t>High-speed payment gateways demand instantaneous real-time inference under 100 milliseconds to block fraudulent payment attempts before settlement.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PROJECT SCOPE &amp;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Objectives &amp; System 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2064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38BDF8"/>
                </a:solidFill>
              </a:defRPr>
            </a:pPr>
            <a:r>
              <a:t>5-Model Ensemble Objectives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• Develop sub-100ms real-time scoring backend API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• Detect multi-account fraud rings via GAT Graph models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• Solve class imbalance using CTGAN synthetic data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• Provide SHAP Shapley explainability logs for audit compliance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600200"/>
            <a:ext cx="512064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FBBF24"/>
                </a:solidFill>
              </a:defRPr>
            </a:pPr>
            <a:r>
              <a:t>Industry Applications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• Real-Time UPI &amp; Credit Card Fraud Interception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• Instant Digital Payment &amp; NetBanking Gateways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• Automated Personal Loan &amp; Credit Risk Scoring (INR ₹)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• Enterprise Anti-Money Laundering (AML) 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PRIOR ACADEMIC STUDIES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Literature Review &amp; Technical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0020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834640"/>
                <a:gridCol w="2773375"/>
              </a:tblGrid>
              <a:tr h="694944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Paper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Strength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Arik et al., 2021 – TabNet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Sequential attention for tabular feature selection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High tabular interpretability &amp; feature selection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Higher computational overhead than LightGBM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Li et al., 2022 – ECOD (IEEE)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Empirical cumulative distribution scoring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Parameter-free, replaces legacy Isolation Forest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Does not capture inter-account graph relationships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Veličković et al., 2018 – GAT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Self-attention over node graph structures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Mines multi-account collusive fraud rings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Requires graph construction pipeline overhead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Xu et al., 2019 – CTGAN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Conditional GANs for imbalanced tabular data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Generates high-fidelity synthetic fraud samples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Requires careful tuning to avoid mode collapse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257800"/>
            <a:ext cx="10728655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BBF24"/>
                </a:solidFill>
              </a:defRPr>
            </a:pPr>
            <a:r>
              <a:t>Research Gap Identified: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No prior financial fraud study unifies LightGBM + TabNet + AutoEncoder + ECOD + PyTorch GAT in a single real-time ensemble with CTGAN balancing and SHAP explainability under &lt;100ms constraints.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END-TO-END DEEP LEARNING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Methodology &amp; System Architecture Flowchart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5740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BBF24"/>
                </a:solidFill>
              </a:defRPr>
            </a:pPr>
            <a:r>
              <a:t>STAGE 01</a:t>
            </a: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Data Ingestion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Raw Financial Logs</a:t>
            </a:r>
            <a:br/>
            <a:r>
              <a:t>(Kaggle / IEEE-CIS)</a:t>
            </a:r>
            <a:br/>
            <a:r>
              <a:t>&amp; Feature Store Processing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1645920"/>
            <a:ext cx="205740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BBF24"/>
                </a:solidFill>
              </a:defRPr>
            </a:pPr>
            <a:r>
              <a:t>STAGE 02</a:t>
            </a: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CTGAN Oversample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Generative Synthetic</a:t>
            </a:r>
            <a:br/>
            <a:r>
              <a:t>Fraud Balancing</a:t>
            </a:r>
            <a:br/>
            <a:r>
              <a:t>(Privacy Preserving)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1645920"/>
            <a:ext cx="205740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BBF24"/>
                </a:solidFill>
              </a:defRPr>
            </a:pPr>
            <a:r>
              <a:t>STAGE 03</a:t>
            </a: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5-Model Ensemble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LightGBM, TabNet,</a:t>
            </a:r>
            <a:br/>
            <a:r>
              <a:t>AutoEncoder, ECOD,</a:t>
            </a:r>
            <a:br/>
            <a:r>
              <a:t>PyTorch GAT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1645920"/>
            <a:ext cx="205740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BBF24"/>
                </a:solidFill>
              </a:defRPr>
            </a:pPr>
            <a:r>
              <a:t>STAGE 04</a:t>
            </a: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Risk Synthesis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Ensemble Risk Score</a:t>
            </a:r>
            <a:br/>
            <a:r>
              <a:t>Synthesis &amp; Weighting</a:t>
            </a:r>
            <a:br/>
            <a:r>
              <a:t>(0–100 Risk Index Scale)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6608" y="1645920"/>
            <a:ext cx="205740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BBF24"/>
                </a:solidFill>
              </a:defRPr>
            </a:pPr>
            <a:r>
              <a:t>STAGE 05</a:t>
            </a: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FastAPI Gateway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Sub-100ms Inference</a:t>
            </a:r>
            <a:br/>
            <a:r>
              <a:t>API &amp; Live Streamlit</a:t>
            </a:r>
            <a:br/>
            <a:r>
              <a:t>UI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CORE INNOVATION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Novelty of the Idea – What Makes Our Project Unique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38BDF8"/>
                </a:solidFill>
              </a:defRPr>
            </a:pPr>
            <a:r>
              <a:t>Hybrid 5-Model Ensemble Architecture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Combines tabular speed (LightGBM), deep attention (TabNet), zero-day anomalies (AutoEncoder), empirical cumulative outliers (ECOD), and graph rings (GAT).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6655" y="160020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38BDF8"/>
                </a:solidFill>
              </a:defRPr>
            </a:pPr>
            <a:r>
              <a:t>Generative Data Balancing (CTGAN)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Solves severe ~3.5% class imbalance via privacy-preserving synthetic transaction generation, expanding fraud coverage without overfitting.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9476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38BDF8"/>
                </a:solidFill>
              </a:defRPr>
            </a:pPr>
            <a:r>
              <a:t>Explainable AI &amp; Audit Logging (SHAP)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Provides instant Shapley feature attributions for full RBI, FCRA &amp; GDPR compliance on flagged and rejected loan or transaction attempts.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379476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38BDF8"/>
                </a:solidFill>
              </a:defRPr>
            </a:pPr>
            <a:r>
              <a:t>Production MLOps &amp; Drift Monitoring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Continuous automated data drift &amp; concept decay monitoring powered by Evidently AI and FastAPI microservice integration.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60720"/>
            <a:ext cx="10728655" cy="685800"/>
          </a:xfrm>
          <a:prstGeom prst="roundRect">
            <a:avLst/>
          </a:prstGeom>
          <a:solidFill>
            <a:srgbClr val="0F294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Research Hypothesis: The 5-model ensemble will achieve higher ROC-AUC and lower false-positive rates than standard single-model baseline classifiers under sub-100ms constraints.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CAPSTONE MILESTONES &amp;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Project Implementation Roadmap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1463040"/>
          </a:xfrm>
          <a:prstGeom prst="roundRect">
            <a:avLst/>
          </a:prstGeom>
          <a:solidFill>
            <a:srgbClr val="0F2942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Phase 1: Foundation &amp; Initial Review (Weeks 1–4) [COMPLETED]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Problem formalization &amp; financial dataset collection (Kaggle &amp; IEEE-CIS datasets)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Baseline Machine Learning prototyping (LightGBM &amp; ECOD outlier detection model)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Literature review &amp; Capstone Review-1 presentation submission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728655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38BDF8"/>
                </a:solidFill>
              </a:defRPr>
            </a:pPr>
            <a:r>
              <a:t>Phase 2: Model Training &amp; Feature Integration (Weeks 5–8) [NEXT STEPS]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Synthetic Fraud Balancing: Train CTGAN to solve the severe ~3.5% fraud class imbalance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Deep Neural Models: Build TabNet deep attention &amp; PyTorch Graph models for fraud rings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Model Explainability (XAI): Implement SHAP feature attributions to explain flagged transactions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00600"/>
            <a:ext cx="10728655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Phase 3: System Deployment &amp; Final Evaluation (Weeks 9–12) [FINAL GOAL]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FastAPI Gateway: Build real-time scoring backend API (&lt;100ms target response time)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User Dashboard: Interactive Streamlit interface for live transaction risk monitoring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System Testing: Perform end-to-end benchmark testing &amp; final Review-2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CITATIONS &amp; 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Academic References &amp; Technical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Academic References:</a:t>
            </a:r>
          </a:p>
          <a:p>
            <a:br/>
            <a:pPr>
              <a:defRPr sz="1350">
                <a:solidFill>
                  <a:srgbClr val="F8FAFC"/>
                </a:solidFill>
              </a:defRPr>
            </a:pPr>
            <a:r>
              <a:t>1. Arik, S. O., &amp; Pfister, T. (2021). TabNet: Attentive Tabular Learning. AAAI Conference on Artificial Intelligence (AAAI 2021).</a:t>
            </a:r>
          </a:p>
          <a:p>
            <a:br/>
            <a:pPr>
              <a:defRPr sz="1350">
                <a:solidFill>
                  <a:srgbClr val="F8FAFC"/>
                </a:solidFill>
              </a:defRPr>
            </a:pPr>
            <a:r>
              <a:t>2. Li, Z., Zhao, Y., Botta, N., Ionescu, C., &amp; Hu, X. (2022). ECOD: Unsupervised Outlier Detection Using Empirical Cumulative Distribution Functions. IEEE TKDE (2022).</a:t>
            </a:r>
          </a:p>
          <a:p>
            <a:br/>
            <a:pPr>
              <a:defRPr sz="1350">
                <a:solidFill>
                  <a:srgbClr val="F8FAFC"/>
                </a:solidFill>
              </a:defRPr>
            </a:pPr>
            <a:r>
              <a:t>3. Veličković, P., Cucurull, G., Casanova, A., Romero, A., Liò, P., &amp; Bengio, Y. (2018). Graph Attention Networks. ICLR (2018).</a:t>
            </a:r>
          </a:p>
          <a:p>
            <a:br/>
            <a:pPr>
              <a:defRPr sz="1350">
                <a:solidFill>
                  <a:srgbClr val="F8FAFC"/>
                </a:solidFill>
              </a:defRPr>
            </a:pPr>
            <a:r>
              <a:t>4. Xu, L., Skoularidou, M., Cuesta-Infante, A., &amp; Veeramachaneni, K. (2019). Modeling Tabular Data using Conditional GAN. NeurIPS (2019).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